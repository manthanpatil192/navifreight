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292608"/>
            <a:ext cx="7619695" cy="438912"/>
          </a:xfrm>
          <a:prstGeom prst="roundRect">
            <a:avLst/>
          </a:prstGeom>
          <a:solidFill>
            <a:srgbClr val="243542"/>
          </a:solidFill>
          <a:ln w="12700">
            <a:solidFill>
              <a:srgbClr val="111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NaviFreight AI – Updated High-Level System Architecture &amp; 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Purpose: To clearly show how updated data flows and user inputs enable optimized dry-bulk freight forecasting &amp; vessel routing on the Indian East Coast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3383280" cy="4892040"/>
          </a:xfrm>
          <a:prstGeom prst="roundRect">
            <a:avLst/>
          </a:prstGeom>
          <a:solidFill>
            <a:srgbClr val="E8F2F8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24712"/>
            <a:ext cx="3200400" cy="292608"/>
          </a:xfrm>
          <a:prstGeom prst="roundRect">
            <a:avLst/>
          </a:prstGeom>
          <a:solidFill>
            <a:srgbClr val="649BB5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1B29"/>
                </a:solidFill>
                <a:latin typeface="Arial"/>
              </a:defRPr>
            </a:pPr>
            <a:r>
              <a:t>PHASE 1 (REVISED)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554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Logistics Manager (User Input)</a:t>
            </a:r>
          </a:p>
          <a:p>
            <a:pPr>
              <a:defRPr sz="680">
                <a:solidFill>
                  <a:srgbClr val="1E293B"/>
                </a:solidFill>
                <a:latin typeface="Arial"/>
              </a:defRPr>
            </a:pPr>
            <a:r>
              <a:t>• Global Source Port (AU/ID)</a:t>
            </a:r>
          </a:p>
          <a:p>
            <a:pPr>
              <a:defRPr sz="680">
                <a:solidFill>
                  <a:srgbClr val="1E293B"/>
                </a:solidFill>
                <a:latin typeface="Arial"/>
              </a:defRPr>
            </a:pPr>
            <a:r>
              <a:t>• Indian Destination Port (PPT/VTZ)</a:t>
            </a:r>
          </a:p>
          <a:p>
            <a:pPr>
              <a:defRPr sz="680">
                <a:solidFill>
                  <a:srgbClr val="1E293B"/>
                </a:solidFill>
                <a:latin typeface="Arial"/>
              </a:defRPr>
            </a:pPr>
            <a:r>
              <a:t>• Total Order Quantity (MT)</a:t>
            </a:r>
          </a:p>
          <a:p>
            <a:pPr>
              <a:defRPr sz="680">
                <a:solidFill>
                  <a:srgbClr val="1E293B"/>
                </a:solidFill>
                <a:latin typeface="Arial"/>
              </a:defRPr>
            </a:pPr>
            <a:r>
              <a:t>• Contract Term (1, 3, 6 Months)</a:t>
            </a:r>
          </a:p>
          <a:p>
            <a:pPr>
              <a:defRPr sz="680">
                <a:solidFill>
                  <a:srgbClr val="1E293B"/>
                </a:solidFill>
                <a:latin typeface="Arial"/>
              </a:defRPr>
            </a:pPr>
            <a:r>
              <a:t>[SIMPLIFIED STOCKPILES]: Target inventory based on steel plant sheet rolling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463040"/>
            <a:ext cx="1554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Data Ingestion Pipeline</a:t>
            </a:r>
          </a:p>
          <a:p>
            <a:pPr>
              <a:defRPr sz="680" b="1">
                <a:solidFill>
                  <a:srgbClr val="1E293B"/>
                </a:solidFill>
                <a:latin typeface="Arial"/>
              </a:defRPr>
            </a:pPr>
            <a:r>
              <a:t>[BDI-INDEX] (Baltic Dry Index)</a:t>
            </a:r>
          </a:p>
          <a:p>
            <a:pPr>
              <a:defRPr sz="680" b="1">
                <a:solidFill>
                  <a:srgbClr val="1E293B"/>
                </a:solidFill>
                <a:latin typeface="Arial"/>
              </a:defRPr>
            </a:pPr>
            <a:r>
              <a:t>[BDRY-INDEX] (Baltic Bulk Index)</a:t>
            </a:r>
          </a:p>
          <a:p>
            <a:pPr>
              <a:defRPr sz="680" b="1">
                <a:solidFill>
                  <a:srgbClr val="1E293B"/>
                </a:solidFill>
                <a:latin typeface="Arial"/>
              </a:defRPr>
            </a:pPr>
            <a:r>
              <a:t>[YAHOO-MARKET] (Financial Data)</a:t>
            </a:r>
          </a:p>
          <a:p>
            <a:pPr>
              <a:defRPr sz="680" b="1">
                <a:solidFill>
                  <a:srgbClr val="1E293B"/>
                </a:solidFill>
                <a:latin typeface="Arial"/>
              </a:defRPr>
            </a:pPr>
            <a:r>
              <a:t>[BUNKER-P] Global Fuel Prices</a:t>
            </a:r>
          </a:p>
          <a:p>
            <a:pPr>
              <a:defRPr sz="680" b="1">
                <a:solidFill>
                  <a:srgbClr val="1E293B"/>
                </a:solidFill>
                <a:latin typeface="Arial"/>
              </a:defRPr>
            </a:pPr>
            <a:r>
              <a:t>[PORT-T] Port Physical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27832"/>
            <a:ext cx="3200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0369A1"/>
                </a:solidFill>
                <a:latin typeface="Arial"/>
              </a:defRPr>
            </a:pPr>
            <a:r>
              <a:t>📜 Tender Preparation &amp; Charter-Party Rolling Analysis [PSU/GFR COMPLIANT]</a:t>
            </a:r>
          </a:p>
          <a:p>
            <a:pPr>
              <a:defRPr sz="740">
                <a:solidFill>
                  <a:srgbClr val="0F172A"/>
                </a:solidFill>
                <a:latin typeface="Arial"/>
              </a:defRPr>
            </a:pPr>
            <a:r>
              <a:t>🗓️ Minimum 21 Days Statutory Tender Notice: Mandatory compliance under GFR 2017 Rule 161 prior to cargo laycan window.</a:t>
            </a:r>
          </a:p>
          <a:p>
            <a:pPr>
              <a:defRPr sz="740">
                <a:solidFill>
                  <a:srgbClr val="0F172A"/>
                </a:solidFill>
                <a:latin typeface="Arial"/>
              </a:defRPr>
            </a:pPr>
            <a:r>
              <a:t>⚖️ 70/30 COA-to-Spot Ratio: 70% volume locked via quarterly COA for basestock safety, 30% spot chartering to capture freight dips.</a:t>
            </a:r>
          </a:p>
          <a:p>
            <a:pPr>
              <a:defRPr sz="740">
                <a:solidFill>
                  <a:srgbClr val="0F172A"/>
                </a:solidFill>
                <a:latin typeface="Arial"/>
              </a:defRPr>
            </a:pPr>
            <a:r>
              <a:t>• Charter-Party Rolling: Dynamically calculates required vessel tonnage &amp; ship delivery rolling based on plant minimum stockpile buffers.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01768"/>
            <a:ext cx="3200400" cy="841248"/>
          </a:xfrm>
          <a:prstGeom prst="roundRect">
            <a:avLst/>
          </a:prstGeom>
          <a:solidFill>
            <a:srgbClr val="629BB5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31B2C"/>
                </a:solidFill>
                <a:latin typeface="Arial"/>
              </a:defRPr>
            </a:pPr>
            <a:r>
              <a:t>🌐 Early Global Volatility Radar</a:t>
            </a:r>
          </a:p>
          <a:p>
            <a:pPr>
              <a:defRPr sz="720" b="1">
                <a:solidFill>
                  <a:srgbClr val="072133"/>
                </a:solidFill>
                <a:latin typeface="Arial"/>
              </a:defRPr>
            </a:pPr>
            <a:r>
              <a:t>• Captures Capesize spot surges 14 days early</a:t>
            </a:r>
          </a:p>
          <a:p>
            <a:pPr>
              <a:defRPr sz="720" b="1">
                <a:solidFill>
                  <a:srgbClr val="072133"/>
                </a:solidFill>
                <a:latin typeface="Arial"/>
              </a:defRPr>
            </a:pPr>
            <a:r>
              <a:t>• Tracks Bay of Bengal cyclones, weather depressions &amp; canal choke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051560"/>
            <a:ext cx="2560320" cy="4892040"/>
          </a:xfrm>
          <a:prstGeom prst="roundRect">
            <a:avLst/>
          </a:prstGeom>
          <a:solidFill>
            <a:srgbClr val="FBF0D8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124712"/>
            <a:ext cx="2377440" cy="292608"/>
          </a:xfrm>
          <a:prstGeom prst="roundRect">
            <a:avLst/>
          </a:prstGeom>
          <a:solidFill>
            <a:srgbClr val="E99547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B1402"/>
                </a:solidFill>
                <a:latin typeface="Arial"/>
              </a:defRPr>
            </a:pPr>
            <a:r>
              <a:t>PHASE 2 (PRESERVED)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08760"/>
            <a:ext cx="2377440" cy="868680"/>
          </a:xfrm>
          <a:prstGeom prst="roundRect">
            <a:avLst/>
          </a:prstGeom>
          <a:solidFill>
            <a:srgbClr val="FDE6C4"/>
          </a:solidFill>
          <a:ln w="1270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  <a:latin typeface="Arial"/>
              </a:defRPr>
            </a:pPr>
            <a:r>
              <a:t>⏱️ Tier-1 Arrival ETA (48h–72h / 2–3 Days Out)</a:t>
            </a:r>
          </a:p>
          <a:p>
            <a:pPr algn="ctr">
              <a:defRPr sz="720">
                <a:solidFill>
                  <a:srgbClr val="475569"/>
                </a:solidFill>
                <a:latin typeface="Arial"/>
              </a:defRPr>
            </a:pPr>
            <a:r>
              <a:t>Simulate long-range arrival bunching to queue inbound coal vessels reliably at outer anchorage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496312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0F172A"/>
                </a:solidFill>
                <a:latin typeface="Arial"/>
              </a:defRPr>
            </a:pPr>
            <a:r>
              <a:t>⚠️ Tier-1 Congestion Alert</a:t>
            </a:r>
          </a:p>
          <a:p>
            <a:pPr algn="ctr">
              <a:defRPr sz="800" b="1">
                <a:solidFill>
                  <a:srgbClr val="EA580C"/>
                </a:solidFill>
                <a:latin typeface="Arial"/>
              </a:defRPr>
            </a:pPr>
            <a:r>
              <a:t>(Anchorage wait &gt; 24–48 hours)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291840"/>
            <a:ext cx="2377440" cy="2542032"/>
          </a:xfrm>
          <a:prstGeom prst="roundRect">
            <a:avLst/>
          </a:prstGeom>
          <a:solidFill>
            <a:srgbClr val="FADCA6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Emergency Coal Priority Factor</a:t>
            </a:r>
          </a:p>
        </p:txBody>
      </p:sp>
      <p:sp>
        <p:nvSpPr>
          <p:cNvPr id="16" name="Diamond 15"/>
          <p:cNvSpPr/>
          <p:nvPr/>
        </p:nvSpPr>
        <p:spPr>
          <a:xfrm>
            <a:off x="4160520" y="3657600"/>
            <a:ext cx="1920240" cy="868680"/>
          </a:xfrm>
          <a:prstGeom prst="diamond">
            <a:avLst/>
          </a:prstGeom>
          <a:solidFill>
            <a:srgbClr val="EF4444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Critical Stockpile</a:t>
            </a:r>
            <a:br/>
            <a:r>
              <a:t>&lt; 4.2 days / CEA Red Flag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663440"/>
            <a:ext cx="2194560" cy="438912"/>
          </a:xfrm>
          <a:prstGeom prst="roundRect">
            <a:avLst/>
          </a:prstGeom>
          <a:solidFill>
            <a:srgbClr val="EA580C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🚨 Emergency Coal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5212080"/>
            <a:ext cx="2194560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1E1B4B"/>
                </a:solidFill>
                <a:latin typeface="Arial"/>
              </a:defRPr>
            </a:pPr>
            <a:r>
              <a:t>Maintain FIFO Berthing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051560"/>
            <a:ext cx="2834640" cy="4892040"/>
          </a:xfrm>
          <a:prstGeom prst="roundRect">
            <a:avLst/>
          </a:prstGeom>
          <a:solidFill>
            <a:srgbClr val="FBF2EA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124712"/>
            <a:ext cx="2651760" cy="411480"/>
          </a:xfrm>
          <a:prstGeom prst="roundRect">
            <a:avLst/>
          </a:prstGeom>
          <a:solidFill>
            <a:srgbClr val="E2615A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2B0404"/>
                </a:solidFill>
                <a:latin typeface="Arial"/>
              </a:defRPr>
            </a:pPr>
            <a:r>
              <a:t>PHASE 3 (PRESERVED) - DECISION GATE &amp; MULTIMODAL DIVERSION (6h Threshold)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600200"/>
            <a:ext cx="2651760" cy="2011680"/>
          </a:xfrm>
          <a:prstGeom prst="roundRect">
            <a:avLst/>
          </a:prstGeom>
          <a:solidFill>
            <a:srgbClr val="FBE69E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293B"/>
                </a:solidFill>
                <a:latin typeface="Arial"/>
              </a:defRPr>
            </a:pPr>
            <a:r>
              <a:t>⚖️ 3-Way Optimization Equation</a:t>
            </a:r>
          </a:p>
          <a:p>
            <a:br/>
            <a:pPr>
              <a:defRPr sz="800" b="1">
                <a:solidFill>
                  <a:srgbClr val="78350F"/>
                </a:solidFill>
                <a:latin typeface="Arial"/>
              </a:defRPr>
            </a:pPr>
            <a:r>
              <a:t>Cost B: Port Diversion Bunker Fuel (Vizag ➔ Dhamra)</a:t>
            </a:r>
          </a:p>
          <a:p>
            <a:br/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Cost C: Multimodal Inland Evacuation – Indian Railways FOIS 48 hr rake indent freight tariff vs Emergency Road Trucking freight</a:t>
            </a:r>
          </a:p>
        </p:txBody>
      </p:sp>
      <p:sp>
        <p:nvSpPr>
          <p:cNvPr id="22" name="Diamond 21"/>
          <p:cNvSpPr/>
          <p:nvPr/>
        </p:nvSpPr>
        <p:spPr>
          <a:xfrm>
            <a:off x="7040880" y="3749040"/>
            <a:ext cx="173736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Optimization</a:t>
            </a:r>
            <a:br/>
            <a:r>
              <a:t>Verdict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754880"/>
            <a:ext cx="1257300" cy="1051560"/>
          </a:xfrm>
          <a:prstGeom prst="roundRect">
            <a:avLst/>
          </a:prstGeom>
          <a:solidFill>
            <a:srgbClr val="FDE047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80" b="1">
                <a:solidFill>
                  <a:srgbClr val="0F172A"/>
                </a:solidFill>
                <a:latin typeface="Arial"/>
              </a:defRPr>
            </a:pPr>
            <a:r>
              <a:t>🚂 EXECUTE MULTIMODAL DIVERSION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Maintain Verdict &amp; Pre-book FOIS rakes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8140" y="4754880"/>
            <a:ext cx="1257300" cy="1051560"/>
          </a:xfrm>
          <a:prstGeom prst="roundRect">
            <a:avLst/>
          </a:prstGeom>
          <a:solidFill>
            <a:srgbClr val="A7F3D0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80" b="1">
                <a:solidFill>
                  <a:srgbClr val="064E3B"/>
                </a:solidFill>
                <a:latin typeface="Arial"/>
              </a:defRPr>
            </a:pPr>
            <a:r>
              <a:t>⚓ PROCEED TO CURRENT ANCHORAGE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Virtual arrival speed eco-optimization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051560"/>
            <a:ext cx="2651760" cy="4892040"/>
          </a:xfrm>
          <a:prstGeom prst="roundRect">
            <a:avLst/>
          </a:prstGeom>
          <a:solidFill>
            <a:srgbClr val="EEF7EE"/>
          </a:solidFill>
          <a:ln w="19050"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1124712"/>
            <a:ext cx="2468880" cy="292608"/>
          </a:xfrm>
          <a:prstGeom prst="roundRect">
            <a:avLst/>
          </a:prstGeom>
          <a:solidFill>
            <a:srgbClr val="73B378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60B"/>
                </a:solidFill>
                <a:latin typeface="Arial"/>
              </a:defRPr>
            </a:pPr>
            <a:r>
              <a:t>PHASE 4 (PRESERVED)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508760"/>
            <a:ext cx="2468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🏗️ Berth Discharge &amp; Demurrage Clock Stop</a:t>
            </a:r>
          </a:p>
          <a:p>
            <a:pPr algn="ctr">
              <a:defRPr sz="750" b="1">
                <a:solidFill>
                  <a:srgbClr val="059669"/>
                </a:solidFill>
                <a:latin typeface="Arial"/>
              </a:defRPr>
            </a:pPr>
            <a:r>
              <a:t>⚡ 2,000 MT/hr continuous grab unloader discharge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313432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🚢 Cargo-to-Port Matcher (Coal to Plant)</a:t>
            </a:r>
          </a:p>
          <a:p>
            <a:pPr>
              <a:defRPr sz="700" b="1">
                <a:solidFill>
                  <a:srgbClr val="1E293B"/>
                </a:solidFill>
                <a:latin typeface="Arial"/>
              </a:defRPr>
            </a:pPr>
            <a:r>
              <a:t>➔ RINL Vizag (Coking Coal / Ash &lt; 10%)</a:t>
            </a:r>
          </a:p>
          <a:p>
            <a:pPr>
              <a:defRPr sz="700" b="1">
                <a:solidFill>
                  <a:srgbClr val="1E293B"/>
                </a:solidFill>
                <a:latin typeface="Arial"/>
              </a:defRPr>
            </a:pPr>
            <a:r>
              <a:t>➔ SAIL Rourkela (High-GCV Metallurgical)</a:t>
            </a:r>
          </a:p>
          <a:p>
            <a:pPr>
              <a:defRPr sz="700" b="1">
                <a:solidFill>
                  <a:srgbClr val="1E293B"/>
                </a:solidFill>
                <a:latin typeface="Arial"/>
              </a:defRPr>
            </a:pPr>
            <a:r>
              <a:t>➔ TATA Kalinganagar (Low VM Blend)</a:t>
            </a:r>
          </a:p>
          <a:p>
            <a:pPr>
              <a:defRPr sz="700" b="1">
                <a:solidFill>
                  <a:srgbClr val="1E293B"/>
                </a:solidFill>
                <a:latin typeface="Arial"/>
              </a:defRPr>
            </a:pPr>
            <a:r>
              <a:t>➔ NTPC Power Stations (Non-Coking Thermal)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3685032"/>
            <a:ext cx="2468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🔄 Coastal Hop Triangulation Engine</a:t>
            </a:r>
          </a:p>
          <a:p>
            <a:pPr algn="ctr">
              <a:defRPr sz="700">
                <a:solidFill>
                  <a:srgbClr val="475569"/>
                </a:solidFill>
                <a:latin typeface="Arial"/>
              </a:defRPr>
            </a:pPr>
            <a:r>
              <a:t>(Wetzel &amp; Tierney 2020 Model - Eliminates Deadhead Ballast)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4416552"/>
            <a:ext cx="2468880" cy="320040"/>
          </a:xfrm>
          <a:prstGeom prst="roundRect">
            <a:avLst/>
          </a:prstGeom>
          <a:solidFill>
            <a:srgbClr val="A3D9A5"/>
          </a:solidFill>
          <a:ln>
            <a:solidFill>
              <a:srgbClr val="28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C3311"/>
                </a:solidFill>
                <a:latin typeface="Arial"/>
              </a:defRPr>
            </a:pPr>
            <a:r>
              <a:t>COMMERCIAL IMPACT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4818888"/>
            <a:ext cx="2468880" cy="1024128"/>
          </a:xfrm>
          <a:prstGeom prst="roundRect">
            <a:avLst/>
          </a:prstGeom>
          <a:solidFill>
            <a:srgbClr val="2B3942"/>
          </a:solidFill>
          <a:ln>
            <a:solidFill>
              <a:srgbClr val="1A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DD3FC"/>
                </a:solidFill>
                <a:latin typeface="Arial"/>
              </a:defRPr>
            </a:pPr>
            <a:r>
              <a:t>🖥️ Production Scaling:</a:t>
            </a:r>
            <a:br/>
            <a:r>
              <a:t>Jetson Nano ➔ AGX ➔ DGX</a:t>
            </a:r>
          </a:p>
          <a:p>
            <a:pPr algn="ctr">
              <a:defRPr sz="720">
                <a:solidFill>
                  <a:srgbClr val="CBD5E1"/>
                </a:solidFill>
                <a:latin typeface="Arial"/>
              </a:defRPr>
            </a:pPr>
            <a:r>
              <a:t>(Same containerized code, scalable hardware)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6035040"/>
            <a:ext cx="11460175" cy="411480"/>
          </a:xfrm>
          <a:prstGeom prst="roundRect">
            <a:avLst/>
          </a:prstGeom>
          <a:solidFill>
            <a:srgbClr val="243542"/>
          </a:solidFill>
          <a:ln>
            <a:solidFill>
              <a:srgbClr val="162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📄 Optional Deployment Note     💻 Edge Demo Device                           Optimized Tender, Predictive Routing, &amp; 360° Profitability across the entire logistics 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